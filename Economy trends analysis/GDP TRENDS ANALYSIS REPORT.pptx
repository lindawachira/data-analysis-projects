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7253aa9c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7253aa9c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7253aa9c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7253aa9c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7253aa9c6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7253aa9c6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7253aa9c6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7253aa9c6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7253aa9c6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7253aa9c6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7253aa9c6a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7253aa9c6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7253aa9c6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7253aa9c6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7253aa9c6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7253aa9c6a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7253aa9c6a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7253aa9c6a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7253aa9c6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7253aa9c6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7253aa9c6a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7253aa9c6a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7253aa9c6a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7253aa9c6a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7253aa9c6a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7253aa9c6a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7253aa9c6a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7253aa9c6a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7253aa9c6a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7253aa9c6a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7253aa9c6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7253aa9c6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7253aa9c6a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7253aa9c6a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4CCC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GB"/>
              <a:t>GDP TRENDS ANALYSIS REPORT</a:t>
            </a:r>
            <a:endParaRPr b="1"/>
          </a:p>
        </p:txBody>
      </p:sp>
      <p:sp>
        <p:nvSpPr>
          <p:cNvPr id="55" name="Google Shape;55;p13"/>
          <p:cNvSpPr txBox="1"/>
          <p:nvPr>
            <p:ph idx="1" type="subTitle"/>
          </p:nvPr>
        </p:nvSpPr>
        <p:spPr>
          <a:xfrm>
            <a:off x="311700" y="3240500"/>
            <a:ext cx="3099300" cy="386100"/>
          </a:xfrm>
          <a:prstGeom prst="rect">
            <a:avLst/>
          </a:prstGeom>
        </p:spPr>
        <p:txBody>
          <a:bodyPr anchorCtr="0" anchor="t" bIns="91425" lIns="91425" spcFirstLastPara="1" rIns="91425" wrap="square" tIns="91425">
            <a:normAutofit fontScale="47500"/>
          </a:bodyPr>
          <a:lstStyle/>
          <a:p>
            <a:pPr indent="0" lvl="0" marL="0" rtl="0" algn="ctr">
              <a:spcBef>
                <a:spcPts val="0"/>
              </a:spcBef>
              <a:spcAft>
                <a:spcPts val="0"/>
              </a:spcAft>
              <a:buNone/>
            </a:pPr>
            <a:r>
              <a:rPr b="1" lang="en-GB"/>
              <a:t>PRESENTED BY LINDA WACHIRA</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Project Background</a:t>
            </a:r>
            <a:endParaRPr b="1"/>
          </a:p>
        </p:txBody>
      </p:sp>
      <p:sp>
        <p:nvSpPr>
          <p:cNvPr id="61" name="Google Shape;61;p14"/>
          <p:cNvSpPr txBox="1"/>
          <p:nvPr>
            <p:ph idx="1" type="body"/>
          </p:nvPr>
        </p:nvSpPr>
        <p:spPr>
          <a:xfrm>
            <a:off x="325165"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Global economic performance varies widely across countries and regions, influenced by factors such as trade, industrialization, population growth, and political stability. Understanding GDP trends helps governments, organizations, and investors make informed decisions. However, regional comparisons and granular insights (e.g., subregion or country-level patterns) are often scattered across multiple datasets, making analysis difficult.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Problem Statement</a:t>
            </a:r>
            <a:endParaRPr b="1"/>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GB"/>
              <a:t>There is limited consolidated analysis of GDP trends across continents, regions, and countries over extended periods. This project addresses this gap by exploring GDP metrics from 1995 to 2022 using UN economic data, with a focus on real GDP, nominal GDP, GDP per capita, and GDP growth rates to uncover key trends and disparities across different economic groupings.</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Project Objective</a:t>
            </a:r>
            <a:endParaRPr b="1"/>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Clr>
                <a:schemeClr val="dk1"/>
              </a:buClr>
              <a:buSzPts val="1100"/>
              <a:buFont typeface="Arial"/>
              <a:buNone/>
            </a:pPr>
            <a:r>
              <a:rPr b="1" lang="en-GB" sz="1100">
                <a:solidFill>
                  <a:schemeClr val="dk1"/>
                </a:solidFill>
              </a:rPr>
              <a:t>General Objective</a:t>
            </a:r>
            <a:br>
              <a:rPr b="1" lang="en-GB" sz="1100">
                <a:solidFill>
                  <a:schemeClr val="dk1"/>
                </a:solidFill>
              </a:rPr>
            </a:br>
            <a:r>
              <a:rPr lang="en-GB" sz="1100">
                <a:solidFill>
                  <a:schemeClr val="dk1"/>
                </a:solidFill>
              </a:rPr>
              <a:t> To analyze and visualize global and regional GDP trends from 1995–2022 to identify key economic patterns and provide insights for comparative and strategic understanding.</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Specific Objectives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To compare real and nominal GDP across continents, regions, and countries.</a:t>
            </a:r>
            <a:br>
              <a:rPr lang="en-GB"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To analyze GDP per capita variations and highlight disparities.</a:t>
            </a:r>
            <a:br>
              <a:rPr lang="en-GB"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To assess growth rate trends over time, including major global events like the COVID-19 pandemic.</a:t>
            </a:r>
            <a:br>
              <a:rPr lang="en-GB"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To identify top-performing countries and regions in GDP growth over the years.</a:t>
            </a:r>
            <a:br>
              <a:rPr lang="en-GB"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To recommend potential areas for deeper economic investigation and forecasting.</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Key Questions</a:t>
            </a:r>
            <a:endParaRPr b="1"/>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GB"/>
              <a:t>How do GDP levels and growth rates vary across continents, regions, and countries?</a:t>
            </a:r>
            <a:endParaRPr/>
          </a:p>
          <a:p>
            <a:pPr indent="-342900" lvl="0" marL="457200" rtl="0" algn="l">
              <a:spcBef>
                <a:spcPts val="0"/>
              </a:spcBef>
              <a:spcAft>
                <a:spcPts val="0"/>
              </a:spcAft>
              <a:buSzPts val="1800"/>
              <a:buAutoNum type="arabicPeriod"/>
            </a:pPr>
            <a:r>
              <a:rPr lang="en-GB"/>
              <a:t>Which regions lead in GDP per capita and which lag behind?</a:t>
            </a:r>
            <a:endParaRPr/>
          </a:p>
          <a:p>
            <a:pPr indent="-342900" lvl="0" marL="457200" rtl="0" algn="l">
              <a:spcBef>
                <a:spcPts val="0"/>
              </a:spcBef>
              <a:spcAft>
                <a:spcPts val="0"/>
              </a:spcAft>
              <a:buSzPts val="1800"/>
              <a:buAutoNum type="arabicPeriod"/>
            </a:pPr>
            <a:r>
              <a:rPr lang="en-GB"/>
              <a:t>How did major events like the COVID-19 pandemic affect global GDP growth patterns?</a:t>
            </a:r>
            <a:endParaRPr/>
          </a:p>
          <a:p>
            <a:pPr indent="-342900" lvl="0" marL="457200" rtl="0" algn="l">
              <a:spcBef>
                <a:spcPts val="0"/>
              </a:spcBef>
              <a:spcAft>
                <a:spcPts val="0"/>
              </a:spcAft>
              <a:buSzPts val="1800"/>
              <a:buAutoNum type="arabicPeriod"/>
            </a:pPr>
            <a:r>
              <a:rPr lang="en-GB"/>
              <a:t>What insights can inform future economic focus and policy direction?</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Data Cleaning and Preparation</a:t>
            </a:r>
            <a:endParaRPr b="1"/>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Collected UN GDP data spanning 1995–2022.</a:t>
            </a:r>
            <a:endParaRPr/>
          </a:p>
          <a:p>
            <a:pPr indent="-342900" lvl="0" marL="457200" rtl="0" algn="l">
              <a:spcBef>
                <a:spcPts val="0"/>
              </a:spcBef>
              <a:spcAft>
                <a:spcPts val="0"/>
              </a:spcAft>
              <a:buSzPts val="1800"/>
              <a:buChar char="●"/>
            </a:pPr>
            <a:r>
              <a:rPr lang="en-GB"/>
              <a:t>Standardized economic indicators (real GDP, nominal GDP, GDP per capita, growth rate).</a:t>
            </a:r>
            <a:endParaRPr/>
          </a:p>
          <a:p>
            <a:pPr indent="-342900" lvl="0" marL="457200" rtl="0" algn="l">
              <a:spcBef>
                <a:spcPts val="0"/>
              </a:spcBef>
              <a:spcAft>
                <a:spcPts val="0"/>
              </a:spcAft>
              <a:buSzPts val="1800"/>
              <a:buChar char="●"/>
            </a:pPr>
            <a:r>
              <a:rPr lang="en-GB"/>
              <a:t>Cleaned inconsistencies and handled missing values across regions and countries.</a:t>
            </a:r>
            <a:endParaRPr/>
          </a:p>
          <a:p>
            <a:pPr indent="-342900" lvl="0" marL="457200" rtl="0" algn="l">
              <a:spcBef>
                <a:spcPts val="0"/>
              </a:spcBef>
              <a:spcAft>
                <a:spcPts val="0"/>
              </a:spcAft>
              <a:buSzPts val="1800"/>
              <a:buChar char="●"/>
            </a:pPr>
            <a:r>
              <a:rPr lang="en-GB"/>
              <a:t>Modeled data relationships in MySQL and prepared tables for visualization in Power BI.</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Analysis &amp; Insights</a:t>
            </a:r>
            <a:endParaRPr b="1"/>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GB"/>
              <a:t>The chart below show the global GDP growth rate between 1995-2022:</a:t>
            </a:r>
            <a:endParaRPr/>
          </a:p>
          <a:p>
            <a:pPr indent="0" lvl="0" marL="0" rtl="0" algn="l">
              <a:lnSpc>
                <a:spcPct val="100000"/>
              </a:lnSpc>
              <a:spcBef>
                <a:spcPts val="0"/>
              </a:spcBef>
              <a:spcAft>
                <a:spcPts val="0"/>
              </a:spcAft>
              <a:buClr>
                <a:schemeClr val="dk1"/>
              </a:buClr>
              <a:buSzPts val="1100"/>
              <a:buFont typeface="Arial"/>
              <a:buNone/>
            </a:pPr>
            <a:r>
              <a:t/>
            </a:r>
            <a:endParaRPr/>
          </a:p>
        </p:txBody>
      </p:sp>
      <p:pic>
        <p:nvPicPr>
          <p:cNvPr id="92" name="Google Shape;92;p19" title="global_growth_rate_trend.PNG"/>
          <p:cNvPicPr preferRelativeResize="0"/>
          <p:nvPr/>
        </p:nvPicPr>
        <p:blipFill>
          <a:blip r:embed="rId3">
            <a:alphaModFix/>
          </a:blip>
          <a:stretch>
            <a:fillRect/>
          </a:stretch>
        </p:blipFill>
        <p:spPr>
          <a:xfrm>
            <a:off x="1714500" y="2096000"/>
            <a:ext cx="5803275" cy="2598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Global Overview</a:t>
            </a:r>
            <a:endParaRPr b="1"/>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Asia leads in both real and nominal GDP with an average growth rate of 4.8%, driven by export-oriented economies like China and India.</a:t>
            </a:r>
            <a:endParaRPr/>
          </a:p>
          <a:p>
            <a:pPr indent="-342900" lvl="0" marL="457200" rtl="0" algn="l">
              <a:spcBef>
                <a:spcPts val="0"/>
              </a:spcBef>
              <a:spcAft>
                <a:spcPts val="0"/>
              </a:spcAft>
              <a:buSzPts val="1800"/>
              <a:buChar char="●"/>
            </a:pPr>
            <a:r>
              <a:rPr lang="en-GB"/>
              <a:t>Oceania records the highest GDP per capita, while Africa ranks lowest due to high population growth and low industrial diversification.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Global Overview Cont.</a:t>
            </a:r>
            <a:endParaRPr b="1"/>
          </a:p>
        </p:txBody>
      </p:sp>
      <p:pic>
        <p:nvPicPr>
          <p:cNvPr id="104" name="Google Shape;104;p21" title="global_stats.PNG"/>
          <p:cNvPicPr preferRelativeResize="0"/>
          <p:nvPr/>
        </p:nvPicPr>
        <p:blipFill>
          <a:blip r:embed="rId3">
            <a:alphaModFix/>
          </a:blip>
          <a:stretch>
            <a:fillRect/>
          </a:stretch>
        </p:blipFill>
        <p:spPr>
          <a:xfrm>
            <a:off x="838575" y="1224725"/>
            <a:ext cx="7466849" cy="3352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Global Overview Cont.</a:t>
            </a:r>
            <a:endParaRPr b="1"/>
          </a:p>
        </p:txBody>
      </p:sp>
      <p:sp>
        <p:nvSpPr>
          <p:cNvPr id="110" name="Google Shape;110;p22"/>
          <p:cNvSpPr txBox="1"/>
          <p:nvPr>
            <p:ph idx="1" type="body"/>
          </p:nvPr>
        </p:nvSpPr>
        <p:spPr>
          <a:xfrm>
            <a:off x="311700" y="911100"/>
            <a:ext cx="8219100" cy="3657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Global GDP growth dipped to -2.2% in 2020 during the pandemic but rebounded to 5.68% in 2021.</a:t>
            </a:r>
            <a:endParaRPr/>
          </a:p>
          <a:p>
            <a:pPr indent="0" lvl="0" marL="0" rtl="0" algn="l">
              <a:spcBef>
                <a:spcPts val="1200"/>
              </a:spcBef>
              <a:spcAft>
                <a:spcPts val="1200"/>
              </a:spcAft>
              <a:buNone/>
            </a:pPr>
            <a:r>
              <a:t/>
            </a:r>
            <a:endParaRPr/>
          </a:p>
        </p:txBody>
      </p:sp>
      <p:pic>
        <p:nvPicPr>
          <p:cNvPr id="111" name="Google Shape;111;p22" title="2020_stats.PNG"/>
          <p:cNvPicPr preferRelativeResize="0"/>
          <p:nvPr/>
        </p:nvPicPr>
        <p:blipFill>
          <a:blip r:embed="rId3">
            <a:alphaModFix/>
          </a:blip>
          <a:stretch>
            <a:fillRect/>
          </a:stretch>
        </p:blipFill>
        <p:spPr>
          <a:xfrm>
            <a:off x="586825" y="1611275"/>
            <a:ext cx="7698426" cy="3393100"/>
          </a:xfrm>
          <a:prstGeom prst="rect">
            <a:avLst/>
          </a:prstGeom>
          <a:noFill/>
          <a:ln>
            <a:noFill/>
          </a:ln>
        </p:spPr>
      </p:pic>
      <p:sp>
        <p:nvSpPr>
          <p:cNvPr id="112" name="Google Shape;112;p22"/>
          <p:cNvSpPr/>
          <p:nvPr/>
        </p:nvSpPr>
        <p:spPr>
          <a:xfrm>
            <a:off x="650800" y="2122925"/>
            <a:ext cx="1198500" cy="511500"/>
          </a:xfrm>
          <a:prstGeom prst="rect">
            <a:avLst/>
          </a:prstGeom>
          <a:noFill/>
          <a:ln cap="flat" cmpd="sng" w="28575">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Regional Focus – Africa</a:t>
            </a:r>
            <a:endParaRPr b="1"/>
          </a:p>
        </p:txBody>
      </p:sp>
      <p:sp>
        <p:nvSpPr>
          <p:cNvPr id="118" name="Google Shape;118;p23"/>
          <p:cNvSpPr txBox="1"/>
          <p:nvPr>
            <p:ph idx="1" type="body"/>
          </p:nvPr>
        </p:nvSpPr>
        <p:spPr>
          <a:xfrm>
            <a:off x="311700" y="870725"/>
            <a:ext cx="8520600" cy="3698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Africa maintains a steady real GDP growth rate of 3.53%, second only to Asia.</a:t>
            </a:r>
            <a:endParaRPr/>
          </a:p>
          <a:p>
            <a:pPr indent="0" lvl="0" marL="0" rtl="0" algn="l">
              <a:spcBef>
                <a:spcPts val="1200"/>
              </a:spcBef>
              <a:spcAft>
                <a:spcPts val="1200"/>
              </a:spcAft>
              <a:buNone/>
            </a:pPr>
            <a:r>
              <a:t/>
            </a:r>
            <a:endParaRPr/>
          </a:p>
        </p:txBody>
      </p:sp>
      <p:pic>
        <p:nvPicPr>
          <p:cNvPr id="119" name="Google Shape;119;p23" title="Africa_overview.PNG"/>
          <p:cNvPicPr preferRelativeResize="0"/>
          <p:nvPr/>
        </p:nvPicPr>
        <p:blipFill>
          <a:blip r:embed="rId3">
            <a:alphaModFix/>
          </a:blip>
          <a:stretch>
            <a:fillRect/>
          </a:stretch>
        </p:blipFill>
        <p:spPr>
          <a:xfrm>
            <a:off x="461475" y="1364450"/>
            <a:ext cx="8160400" cy="3698100"/>
          </a:xfrm>
          <a:prstGeom prst="rect">
            <a:avLst/>
          </a:prstGeom>
          <a:noFill/>
          <a:ln>
            <a:noFill/>
          </a:ln>
        </p:spPr>
      </p:pic>
      <p:sp>
        <p:nvSpPr>
          <p:cNvPr id="120" name="Google Shape;120;p23"/>
          <p:cNvSpPr/>
          <p:nvPr/>
        </p:nvSpPr>
        <p:spPr>
          <a:xfrm>
            <a:off x="650800" y="1718975"/>
            <a:ext cx="1198500" cy="511500"/>
          </a:xfrm>
          <a:prstGeom prst="rect">
            <a:avLst/>
          </a:prstGeom>
          <a:noFill/>
          <a:ln cap="flat" cmpd="sng" w="28575">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GB"/>
              <a:t>Regional Focus – Africa Cont.</a:t>
            </a:r>
            <a:endParaRPr/>
          </a:p>
        </p:txBody>
      </p:sp>
      <p:sp>
        <p:nvSpPr>
          <p:cNvPr id="126" name="Google Shape;126;p24"/>
          <p:cNvSpPr txBox="1"/>
          <p:nvPr>
            <p:ph idx="1" type="body"/>
          </p:nvPr>
        </p:nvSpPr>
        <p:spPr>
          <a:xfrm>
            <a:off x="311700" y="911100"/>
            <a:ext cx="8520600" cy="365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It experienced a -2.6% growth rate in 2020, but recovered to 5.9% in 2021.</a:t>
            </a:r>
            <a:endParaRPr/>
          </a:p>
          <a:p>
            <a:pPr indent="0" lvl="0" marL="0" rtl="0" algn="l">
              <a:spcBef>
                <a:spcPts val="1200"/>
              </a:spcBef>
              <a:spcAft>
                <a:spcPts val="1200"/>
              </a:spcAft>
              <a:buNone/>
            </a:pPr>
            <a:r>
              <a:t/>
            </a:r>
            <a:endParaRPr/>
          </a:p>
        </p:txBody>
      </p:sp>
      <p:pic>
        <p:nvPicPr>
          <p:cNvPr id="127" name="Google Shape;127;p24" title="2020_region_stats.PNG"/>
          <p:cNvPicPr preferRelativeResize="0"/>
          <p:nvPr/>
        </p:nvPicPr>
        <p:blipFill>
          <a:blip r:embed="rId3">
            <a:alphaModFix/>
          </a:blip>
          <a:stretch>
            <a:fillRect/>
          </a:stretch>
        </p:blipFill>
        <p:spPr>
          <a:xfrm>
            <a:off x="461475" y="1261200"/>
            <a:ext cx="8187324" cy="3791825"/>
          </a:xfrm>
          <a:prstGeom prst="rect">
            <a:avLst/>
          </a:prstGeom>
          <a:noFill/>
          <a:ln>
            <a:noFill/>
          </a:ln>
        </p:spPr>
      </p:pic>
      <p:sp>
        <p:nvSpPr>
          <p:cNvPr id="128" name="Google Shape;128;p24"/>
          <p:cNvSpPr/>
          <p:nvPr/>
        </p:nvSpPr>
        <p:spPr>
          <a:xfrm>
            <a:off x="650800" y="1665125"/>
            <a:ext cx="1198500" cy="511500"/>
          </a:xfrm>
          <a:prstGeom prst="rect">
            <a:avLst/>
          </a:prstGeom>
          <a:noFill/>
          <a:ln cap="flat" cmpd="sng" w="28575">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GB"/>
              <a:t>Regional Focus – Africa Cont.</a:t>
            </a:r>
            <a:endParaRPr/>
          </a:p>
        </p:txBody>
      </p:sp>
      <p:pic>
        <p:nvPicPr>
          <p:cNvPr id="134" name="Google Shape;134;p25" title="2021_region_stats.PNG"/>
          <p:cNvPicPr preferRelativeResize="0"/>
          <p:nvPr/>
        </p:nvPicPr>
        <p:blipFill>
          <a:blip r:embed="rId3">
            <a:alphaModFix/>
          </a:blip>
          <a:stretch>
            <a:fillRect/>
          </a:stretch>
        </p:blipFill>
        <p:spPr>
          <a:xfrm>
            <a:off x="583475" y="1152475"/>
            <a:ext cx="7957601" cy="3690325"/>
          </a:xfrm>
          <a:prstGeom prst="rect">
            <a:avLst/>
          </a:prstGeom>
          <a:noFill/>
          <a:ln>
            <a:noFill/>
          </a:ln>
        </p:spPr>
      </p:pic>
      <p:sp>
        <p:nvSpPr>
          <p:cNvPr id="135" name="Google Shape;135;p25"/>
          <p:cNvSpPr/>
          <p:nvPr/>
        </p:nvSpPr>
        <p:spPr>
          <a:xfrm>
            <a:off x="785425" y="1530500"/>
            <a:ext cx="1198500" cy="511500"/>
          </a:xfrm>
          <a:prstGeom prst="rect">
            <a:avLst/>
          </a:prstGeom>
          <a:noFill/>
          <a:ln cap="flat" cmpd="sng" w="28575">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GB"/>
              <a:t>Regional Focus – Africa Cont.</a:t>
            </a:r>
            <a:endParaRPr/>
          </a:p>
        </p:txBody>
      </p:sp>
      <p:sp>
        <p:nvSpPr>
          <p:cNvPr id="141" name="Google Shape;14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t>Sub-Saharan Africa slightly outpaces North Africa in long-term growth (3.6%), but North Africa leads in GDP per capita due to smaller populations and diversified economies.</a:t>
            </a:r>
            <a:endParaRPr/>
          </a:p>
          <a:p>
            <a:pPr indent="0" lvl="0" marL="0" rtl="0" algn="l">
              <a:spcBef>
                <a:spcPts val="1200"/>
              </a:spcBef>
              <a:spcAft>
                <a:spcPts val="0"/>
              </a:spcAft>
              <a:buClr>
                <a:schemeClr val="dk1"/>
              </a:buClr>
              <a:buSzPts val="1100"/>
              <a:buFont typeface="Arial"/>
              <a:buNone/>
            </a:pPr>
            <a:r>
              <a:rPr lang="en-GB"/>
              <a:t>In 2021, North Africa surpassed Sub-Saharan Africa by 2.8% growth, fueled by tourism rebound and political stability improvements.</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Country-Level Highlights</a:t>
            </a:r>
            <a:endParaRPr b="1"/>
          </a:p>
        </p:txBody>
      </p:sp>
      <p:sp>
        <p:nvSpPr>
          <p:cNvPr id="147" name="Google Shape;147;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23850" lvl="0" marL="457200" rtl="0" algn="l">
              <a:lnSpc>
                <a:spcPct val="105000"/>
              </a:lnSpc>
              <a:spcBef>
                <a:spcPts val="1200"/>
              </a:spcBef>
              <a:spcAft>
                <a:spcPts val="0"/>
              </a:spcAft>
              <a:buClr>
                <a:schemeClr val="dk2"/>
              </a:buClr>
              <a:buSzPts val="1500"/>
              <a:buChar char="●"/>
            </a:pPr>
            <a:r>
              <a:rPr lang="en-GB" sz="1500"/>
              <a:t>Exceptional one-year growth performers include:</a:t>
            </a:r>
            <a:br>
              <a:rPr lang="en-GB" sz="1500"/>
            </a:br>
            <a:endParaRPr sz="1500"/>
          </a:p>
          <a:p>
            <a:pPr indent="-323850" lvl="1" marL="914400" rtl="0" algn="l">
              <a:lnSpc>
                <a:spcPct val="105000"/>
              </a:lnSpc>
              <a:spcBef>
                <a:spcPts val="0"/>
              </a:spcBef>
              <a:spcAft>
                <a:spcPts val="0"/>
              </a:spcAft>
              <a:buClr>
                <a:schemeClr val="dk2"/>
              </a:buClr>
              <a:buSzPts val="1500"/>
              <a:buChar char="○"/>
            </a:pPr>
            <a:r>
              <a:rPr b="1" lang="en-GB" sz="1500"/>
              <a:t>Mali (1995 – 37.2%)</a:t>
            </a:r>
            <a:br>
              <a:rPr b="1" lang="en-GB" sz="1500"/>
            </a:br>
            <a:endParaRPr b="1" sz="1500"/>
          </a:p>
          <a:p>
            <a:pPr indent="-323850" lvl="1" marL="914400" rtl="0" algn="l">
              <a:lnSpc>
                <a:spcPct val="105000"/>
              </a:lnSpc>
              <a:spcBef>
                <a:spcPts val="0"/>
              </a:spcBef>
              <a:spcAft>
                <a:spcPts val="0"/>
              </a:spcAft>
              <a:buClr>
                <a:schemeClr val="dk2"/>
              </a:buClr>
              <a:buSzPts val="1500"/>
              <a:buChar char="○"/>
            </a:pPr>
            <a:r>
              <a:rPr b="1" lang="en-GB" sz="1500"/>
              <a:t>Angola (2005 – 15%)</a:t>
            </a:r>
            <a:br>
              <a:rPr b="1" lang="en-GB" sz="1500"/>
            </a:br>
            <a:endParaRPr b="1" sz="1500"/>
          </a:p>
          <a:p>
            <a:pPr indent="-323850" lvl="1" marL="914400" rtl="0" algn="l">
              <a:lnSpc>
                <a:spcPct val="105000"/>
              </a:lnSpc>
              <a:spcBef>
                <a:spcPts val="0"/>
              </a:spcBef>
              <a:spcAft>
                <a:spcPts val="0"/>
              </a:spcAft>
              <a:buClr>
                <a:schemeClr val="dk2"/>
              </a:buClr>
              <a:buSzPts val="1500"/>
              <a:buChar char="○"/>
            </a:pPr>
            <a:r>
              <a:rPr b="1" lang="en-GB" sz="1500"/>
              <a:t>Uganda (2010 – 19.9%)</a:t>
            </a:r>
            <a:br>
              <a:rPr b="1" lang="en-GB" sz="1500"/>
            </a:br>
            <a:endParaRPr b="1" sz="1500"/>
          </a:p>
          <a:p>
            <a:pPr indent="-323850" lvl="1" marL="914400" rtl="0" algn="l">
              <a:lnSpc>
                <a:spcPct val="105000"/>
              </a:lnSpc>
              <a:spcBef>
                <a:spcPts val="0"/>
              </a:spcBef>
              <a:spcAft>
                <a:spcPts val="0"/>
              </a:spcAft>
              <a:buClr>
                <a:schemeClr val="dk2"/>
              </a:buClr>
              <a:buSzPts val="1500"/>
              <a:buChar char="○"/>
            </a:pPr>
            <a:r>
              <a:rPr b="1" lang="en-GB" sz="1500"/>
              <a:t>Somalia (2015 – 23.7%)</a:t>
            </a:r>
            <a:br>
              <a:rPr b="1" lang="en-GB" sz="1500"/>
            </a:br>
            <a:endParaRPr b="1" sz="1500"/>
          </a:p>
          <a:p>
            <a:pPr indent="-323850" lvl="1" marL="914400" rtl="0" algn="l">
              <a:lnSpc>
                <a:spcPct val="105000"/>
              </a:lnSpc>
              <a:spcBef>
                <a:spcPts val="0"/>
              </a:spcBef>
              <a:spcAft>
                <a:spcPts val="0"/>
              </a:spcAft>
              <a:buClr>
                <a:schemeClr val="dk2"/>
              </a:buClr>
              <a:buSzPts val="1500"/>
              <a:buChar char="○"/>
            </a:pPr>
            <a:r>
              <a:rPr b="1" lang="en-GB" sz="1500"/>
              <a:t>Libya (2021 – 28.3% post-conflict recovery)</a:t>
            </a:r>
            <a:br>
              <a:rPr b="1" lang="en-GB" sz="1500"/>
            </a:br>
            <a:endParaRPr b="1" sz="1500"/>
          </a:p>
          <a:p>
            <a:pPr indent="-323850" lvl="0" marL="457200" rtl="0" algn="l">
              <a:lnSpc>
                <a:spcPct val="105000"/>
              </a:lnSpc>
              <a:spcBef>
                <a:spcPts val="0"/>
              </a:spcBef>
              <a:spcAft>
                <a:spcPts val="0"/>
              </a:spcAft>
              <a:buClr>
                <a:schemeClr val="dk2"/>
              </a:buClr>
              <a:buSzPts val="1500"/>
              <a:buChar char="●"/>
            </a:pPr>
            <a:r>
              <a:rPr b="1" lang="en-GB" sz="1500"/>
              <a:t>Nigeria</a:t>
            </a:r>
            <a:r>
              <a:rPr lang="en-GB" sz="1500"/>
              <a:t> leads in real GDP, while </a:t>
            </a:r>
            <a:r>
              <a:rPr b="1" lang="en-GB" sz="1500"/>
              <a:t>Seychelles</a:t>
            </a:r>
            <a:r>
              <a:rPr lang="en-GB" sz="1500"/>
              <a:t> tops in GDP per capita in 2022.</a:t>
            </a:r>
            <a:br>
              <a:rPr lang="en-GB" sz="1500"/>
            </a:br>
            <a:endParaRPr sz="1500"/>
          </a:p>
          <a:p>
            <a:pPr indent="0" lvl="0" marL="0" rtl="0" algn="l">
              <a:lnSpc>
                <a:spcPct val="105000"/>
              </a:lnSpc>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GB"/>
              <a:t>Country-Level Highlights Cont.</a:t>
            </a:r>
            <a:endParaRPr b="1"/>
          </a:p>
          <a:p>
            <a:pPr indent="0" lvl="0" marL="0" rtl="0" algn="l">
              <a:spcBef>
                <a:spcPts val="0"/>
              </a:spcBef>
              <a:spcAft>
                <a:spcPts val="0"/>
              </a:spcAft>
              <a:buNone/>
            </a:pPr>
            <a:r>
              <a:t/>
            </a:r>
            <a:endParaRPr/>
          </a:p>
        </p:txBody>
      </p:sp>
      <p:sp>
        <p:nvSpPr>
          <p:cNvPr id="153" name="Google Shape;153;p28"/>
          <p:cNvSpPr txBox="1"/>
          <p:nvPr>
            <p:ph idx="1" type="body"/>
          </p:nvPr>
        </p:nvSpPr>
        <p:spPr>
          <a:xfrm>
            <a:off x="628250" y="1152475"/>
            <a:ext cx="8204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4" name="Google Shape;154;p28" title="real_gdp_country_overview.PNG"/>
          <p:cNvPicPr preferRelativeResize="0"/>
          <p:nvPr/>
        </p:nvPicPr>
        <p:blipFill>
          <a:blip r:embed="rId3">
            <a:alphaModFix/>
          </a:blip>
          <a:stretch>
            <a:fillRect/>
          </a:stretch>
        </p:blipFill>
        <p:spPr>
          <a:xfrm>
            <a:off x="516150" y="1152475"/>
            <a:ext cx="8087614" cy="38862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GB"/>
              <a:t>Recommendations</a:t>
            </a:r>
            <a:endParaRPr b="1"/>
          </a:p>
          <a:p>
            <a:pPr indent="0" lvl="0" marL="0" rtl="0" algn="l">
              <a:spcBef>
                <a:spcPts val="0"/>
              </a:spcBef>
              <a:spcAft>
                <a:spcPts val="0"/>
              </a:spcAft>
              <a:buClr>
                <a:schemeClr val="dk1"/>
              </a:buClr>
              <a:buSzPct val="39285"/>
              <a:buFont typeface="Arial"/>
              <a:buNone/>
            </a:pPr>
            <a:r>
              <a:t/>
            </a:r>
            <a:endParaRPr b="1"/>
          </a:p>
          <a:p>
            <a:pPr indent="0" lvl="0" marL="0" rtl="0" algn="l">
              <a:spcBef>
                <a:spcPts val="0"/>
              </a:spcBef>
              <a:spcAft>
                <a:spcPts val="0"/>
              </a:spcAft>
              <a:buNone/>
            </a:pPr>
            <a:r>
              <a:t/>
            </a:r>
            <a:endParaRPr b="1"/>
          </a:p>
        </p:txBody>
      </p:sp>
      <p:sp>
        <p:nvSpPr>
          <p:cNvPr id="160" name="Google Shape;160;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GB"/>
              <a:t>Focus on population-adjusted metrics (GDP per capita) for fairer cross-country comparisons.</a:t>
            </a:r>
            <a:endParaRPr/>
          </a:p>
          <a:p>
            <a:pPr indent="-342900" lvl="0" marL="457200" rtl="0" algn="l">
              <a:spcBef>
                <a:spcPts val="0"/>
              </a:spcBef>
              <a:spcAft>
                <a:spcPts val="0"/>
              </a:spcAft>
              <a:buSzPts val="1800"/>
              <a:buChar char="●"/>
            </a:pPr>
            <a:r>
              <a:rPr lang="en-GB"/>
              <a:t>Explore drivers behind Asia’s sustained growth (e.g., trade policy, industrialization) for replication in other regions.</a:t>
            </a:r>
            <a:endParaRPr/>
          </a:p>
          <a:p>
            <a:pPr indent="-342900" lvl="0" marL="457200" rtl="0" algn="l">
              <a:spcBef>
                <a:spcPts val="0"/>
              </a:spcBef>
              <a:spcAft>
                <a:spcPts val="0"/>
              </a:spcAft>
              <a:buSzPts val="1800"/>
              <a:buChar char="●"/>
            </a:pPr>
            <a:r>
              <a:rPr lang="en-GB"/>
              <a:t>Investigate factors behind Oceania’s high per-capita GDP to inform wealth distribution strategies.</a:t>
            </a:r>
            <a:endParaRPr/>
          </a:p>
          <a:p>
            <a:pPr indent="-342900" lvl="0" marL="457200" rtl="0" algn="l">
              <a:spcBef>
                <a:spcPts val="0"/>
              </a:spcBef>
              <a:spcAft>
                <a:spcPts val="0"/>
              </a:spcAft>
              <a:buSzPts val="1800"/>
              <a:buChar char="●"/>
            </a:pPr>
            <a:r>
              <a:rPr lang="en-GB"/>
              <a:t>Monitor Africa’s improving growth trajectory and explore sector diversification strategies (beyond agriculture).</a:t>
            </a:r>
            <a:endParaRPr/>
          </a:p>
          <a:p>
            <a:pPr indent="-342900" lvl="0" marL="457200" rtl="0" algn="l">
              <a:spcBef>
                <a:spcPts val="0"/>
              </a:spcBef>
              <a:spcAft>
                <a:spcPts val="0"/>
              </a:spcAft>
              <a:buSzPts val="1800"/>
              <a:buChar char="●"/>
            </a:pPr>
            <a:r>
              <a:rPr lang="en-GB"/>
              <a:t>Expand dataset to include inflation, population, and trade balance to enrich future forecasting and economic modeling.</a:t>
            </a:r>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Conclusion</a:t>
            </a:r>
            <a:endParaRPr b="1"/>
          </a:p>
        </p:txBody>
      </p:sp>
      <p:sp>
        <p:nvSpPr>
          <p:cNvPr id="166" name="Google Shape;166;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GB"/>
              <a:t>This project provided a comprehensive overview of GDP trends from 1995–2022, highlighting regional disparities and shifts influenced by global events like the COVID-19 pandemic. Asia emerged as a growth leader, Oceania as the highest in per-capita wealth, and Africa as a region with promising but uneven growth trajectories. These insights form a foundation for deeper economic analysis, policy development, and future enhancements such as predictive modeling and integration of additional macroeconomic indicators.</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