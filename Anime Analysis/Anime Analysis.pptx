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158a6c0f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158a6c0f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158a6c0f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158a6c0f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158a6c0f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158a6c0f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1a62106b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1a62106b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1a62106b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1a62106b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81a62106b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81a62106b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1a62106b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1a62106b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1a62106b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81a62106b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1a62106b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1a62106b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81a62106b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81a62106b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1a62106b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1a62106b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1a62106b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1a62106b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1a62106b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81a62106b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81a62106b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81a62106b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1a62106b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81a62106b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1a62106b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1a62106b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1a62106b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1a62106b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colab.research.google.com/drive/1lyZRwThYuZoOgA0r8B3oeRseMQXMruDm?pli=1#scrollTo=dUrVuRmGXyuD" TargetMode="External"/><Relationship Id="rId4" Type="http://schemas.openxmlformats.org/officeDocument/2006/relationships/hyperlink" Target="https://github.com/lindawachira/data-analysis-projects/blob/main/Anime%20Analysis/Anime_cleaning.sq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idx="1" type="subTitle"/>
          </p:nvPr>
        </p:nvSpPr>
        <p:spPr>
          <a:xfrm>
            <a:off x="0" y="4680700"/>
            <a:ext cx="2498100" cy="3819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en-GB">
                <a:latin typeface="Impact"/>
                <a:ea typeface="Impact"/>
                <a:cs typeface="Impact"/>
                <a:sym typeface="Impact"/>
              </a:rPr>
              <a:t>By Linda Wachira</a:t>
            </a:r>
            <a:endParaRPr>
              <a:latin typeface="Impact"/>
              <a:ea typeface="Impact"/>
              <a:cs typeface="Impact"/>
              <a:sym typeface="Impact"/>
            </a:endParaRPr>
          </a:p>
        </p:txBody>
      </p:sp>
      <p:sp>
        <p:nvSpPr>
          <p:cNvPr id="55" name="Google Shape;55;p13"/>
          <p:cNvSpPr/>
          <p:nvPr/>
        </p:nvSpPr>
        <p:spPr>
          <a:xfrm>
            <a:off x="796100" y="1939550"/>
            <a:ext cx="7551811" cy="1611512"/>
          </a:xfrm>
          <a:prstGeom prst="rect">
            <a:avLst/>
          </a:prstGeom>
        </p:spPr>
        <p:txBody>
          <a:bodyPr>
            <a:prstTxWarp prst="textPlain"/>
          </a:bodyPr>
          <a:lstStyle/>
          <a:p>
            <a:pPr lvl="0" algn="ctr"/>
            <a:r>
              <a:rPr b="0" i="0">
                <a:ln cap="flat" cmpd="sng" w="9525">
                  <a:solidFill>
                    <a:srgbClr val="000000"/>
                  </a:solidFill>
                  <a:prstDash val="solid"/>
                  <a:round/>
                  <a:headEnd len="sm" w="sm" type="none"/>
                  <a:tailEnd len="sm" w="sm" type="none"/>
                </a:ln>
                <a:solidFill>
                  <a:schemeClr val="dk1"/>
                </a:solidFill>
                <a:latin typeface="Impact"/>
              </a:rPr>
              <a:t>Hype vs Love: </a:t>
            </a:r>
            <a:br>
              <a:rPr b="0" i="0">
                <a:ln cap="flat" cmpd="sng" w="9525">
                  <a:solidFill>
                    <a:srgbClr val="000000"/>
                  </a:solidFill>
                  <a:prstDash val="solid"/>
                  <a:round/>
                  <a:headEnd len="sm" w="sm" type="none"/>
                  <a:tailEnd len="sm" w="sm" type="none"/>
                </a:ln>
                <a:solidFill>
                  <a:schemeClr val="dk1"/>
                </a:solidFill>
                <a:latin typeface="Impact"/>
              </a:rPr>
            </a:br>
            <a:r>
              <a:rPr b="0" i="0">
                <a:ln cap="flat" cmpd="sng" w="9525">
                  <a:solidFill>
                    <a:srgbClr val="000000"/>
                  </a:solidFill>
                  <a:prstDash val="solid"/>
                  <a:round/>
                  <a:headEnd len="sm" w="sm" type="none"/>
                  <a:tailEnd len="sm" w="sm" type="none"/>
                </a:ln>
                <a:solidFill>
                  <a:schemeClr val="dk1"/>
                </a:solidFill>
                <a:latin typeface="Impact"/>
              </a:rPr>
              <a:t>The Ultimate Anime Analysis Report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Problem Statement</a:t>
            </a:r>
            <a:endParaRPr b="1"/>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Anime is one of the fastest-growing entertainment industries worldwide, with millions of titles competing for viewership and fan recognition. While platforms like MyAnimeList (MAL) provide rankings such as Overall, Popularity, and Favourability, it is unclear how these rankings relate to one another or to the ratings that fans assign.</a:t>
            </a:r>
            <a:endParaRPr/>
          </a:p>
          <a:p>
            <a:pPr indent="0" lvl="0" marL="0" rtl="0" algn="l">
              <a:spcBef>
                <a:spcPts val="1200"/>
              </a:spcBef>
              <a:spcAft>
                <a:spcPts val="1200"/>
              </a:spcAft>
              <a:buNone/>
            </a:pPr>
            <a:r>
              <a:rPr lang="en-GB"/>
              <a:t>Understanding these relationships provides insights into audience behavior, the balance between quality and popularity, and the dynamics of anime rankings.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Project Objective</a:t>
            </a:r>
            <a:endParaRPr b="1"/>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GB" sz="6214"/>
              <a:t>General Objective</a:t>
            </a:r>
            <a:endParaRPr b="1" sz="6214"/>
          </a:p>
          <a:p>
            <a:pPr indent="0" lvl="0" marL="0" rtl="0" algn="l">
              <a:spcBef>
                <a:spcPts val="1200"/>
              </a:spcBef>
              <a:spcAft>
                <a:spcPts val="0"/>
              </a:spcAft>
              <a:buNone/>
            </a:pPr>
            <a:r>
              <a:rPr lang="en-GB" sz="6214"/>
              <a:t>To analyze and visualize the relationship between anime rankings (overall, popularity, and favourability) and their ratings, in order to understand audience preferences and trends on MyAnimeList (MAL).</a:t>
            </a:r>
            <a:endParaRPr sz="6214"/>
          </a:p>
          <a:p>
            <a:pPr indent="0" lvl="0" marL="0" rtl="0" algn="l">
              <a:spcBef>
                <a:spcPts val="1200"/>
              </a:spcBef>
              <a:spcAft>
                <a:spcPts val="0"/>
              </a:spcAft>
              <a:buNone/>
            </a:pPr>
            <a:r>
              <a:rPr b="1" lang="en-GB" sz="6214"/>
              <a:t>Specific Objective</a:t>
            </a:r>
            <a:endParaRPr b="1" sz="6214"/>
          </a:p>
          <a:p>
            <a:pPr indent="-327252" lvl="0" marL="457200" rtl="0" algn="l">
              <a:spcBef>
                <a:spcPts val="1200"/>
              </a:spcBef>
              <a:spcAft>
                <a:spcPts val="0"/>
              </a:spcAft>
              <a:buSzPct val="100000"/>
              <a:buAutoNum type="arabicPeriod"/>
            </a:pPr>
            <a:r>
              <a:rPr b="1" lang="en-GB" sz="6214"/>
              <a:t>To </a:t>
            </a:r>
            <a:r>
              <a:rPr lang="en-GB" sz="6214"/>
              <a:t>determine whether the most popular anime are also the most highly rated.</a:t>
            </a:r>
            <a:endParaRPr sz="6214"/>
          </a:p>
          <a:p>
            <a:pPr indent="-327252" lvl="0" marL="457200" rtl="0" algn="l">
              <a:spcBef>
                <a:spcPts val="0"/>
              </a:spcBef>
              <a:spcAft>
                <a:spcPts val="0"/>
              </a:spcAft>
              <a:buSzPct val="100000"/>
              <a:buAutoNum type="arabicPeriod"/>
            </a:pPr>
            <a:r>
              <a:rPr lang="en-GB" sz="6214"/>
              <a:t>To examine the relationship between fan favourability rankings and anime ratings.</a:t>
            </a:r>
            <a:endParaRPr sz="6214"/>
          </a:p>
          <a:p>
            <a:pPr indent="-327252" lvl="0" marL="457200" rtl="0" algn="l">
              <a:spcBef>
                <a:spcPts val="0"/>
              </a:spcBef>
              <a:spcAft>
                <a:spcPts val="0"/>
              </a:spcAft>
              <a:buSzPct val="100000"/>
              <a:buAutoNum type="arabicPeriod"/>
            </a:pPr>
            <a:r>
              <a:rPr lang="en-GB" sz="6214"/>
              <a:t>To assess whether overall rankings align more closely with popularity or favourability.</a:t>
            </a:r>
            <a:endParaRPr sz="6214"/>
          </a:p>
          <a:p>
            <a:pPr indent="-327252" lvl="0" marL="457200" rtl="0" algn="l">
              <a:spcBef>
                <a:spcPts val="0"/>
              </a:spcBef>
              <a:spcAft>
                <a:spcPts val="0"/>
              </a:spcAft>
              <a:buSzPct val="100000"/>
              <a:buAutoNum type="arabicPeriod"/>
            </a:pPr>
            <a:r>
              <a:rPr lang="en-GB" sz="6214"/>
              <a:t>To identify anime that perform strongly in one ranking category but not in others, highlighting differences in audience perception.</a:t>
            </a:r>
            <a:endParaRPr sz="6214"/>
          </a:p>
          <a:p>
            <a:pPr indent="0" lvl="0" marL="0" rtl="0" algn="l">
              <a:spcBef>
                <a:spcPts val="1200"/>
              </a:spcBef>
              <a:spcAft>
                <a:spcPts val="0"/>
              </a:spcAft>
              <a:buNone/>
            </a:pPr>
            <a:r>
              <a:t/>
            </a:r>
            <a:endParaRPr b="1"/>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Research Questions</a:t>
            </a:r>
            <a:endParaRPr b="1"/>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Do higher popularity rankings correspond to higher anime ratings?</a:t>
            </a:r>
            <a:endParaRPr/>
          </a:p>
          <a:p>
            <a:pPr indent="-342900" lvl="0" marL="457200" rtl="0" algn="l">
              <a:spcBef>
                <a:spcPts val="0"/>
              </a:spcBef>
              <a:spcAft>
                <a:spcPts val="0"/>
              </a:spcAft>
              <a:buSzPts val="1800"/>
              <a:buAutoNum type="arabicPeriod"/>
            </a:pPr>
            <a:r>
              <a:rPr lang="en-GB"/>
              <a:t>How does fan favourability ranking relate to anime ratings?</a:t>
            </a:r>
            <a:endParaRPr/>
          </a:p>
          <a:p>
            <a:pPr indent="-342900" lvl="0" marL="457200" rtl="0" algn="l">
              <a:lnSpc>
                <a:spcPct val="100000"/>
              </a:lnSpc>
              <a:spcBef>
                <a:spcPts val="0"/>
              </a:spcBef>
              <a:spcAft>
                <a:spcPts val="0"/>
              </a:spcAft>
              <a:buSzPts val="1800"/>
              <a:buAutoNum type="arabicPeriod"/>
            </a:pPr>
            <a:r>
              <a:rPr lang="en-GB"/>
              <a:t>Do popularity and favourability rankings correlate with each other?</a:t>
            </a:r>
            <a:endParaRPr/>
          </a:p>
          <a:p>
            <a:pPr indent="-342900" lvl="0" marL="457200" rtl="0" algn="l">
              <a:spcBef>
                <a:spcPts val="0"/>
              </a:spcBef>
              <a:spcAft>
                <a:spcPts val="0"/>
              </a:spcAft>
              <a:buSzPts val="1800"/>
              <a:buAutoNum type="arabicPeriod"/>
            </a:pPr>
            <a:r>
              <a:rPr lang="en-GB"/>
              <a:t>How do individual anime overall ranks compare against popularity and favourability ranks?</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Collection, Preprocessing &amp; Visualization</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 data used in this project was scraped from My Anime List website. Find code </a:t>
            </a:r>
            <a:r>
              <a:rPr lang="en-GB" u="sng">
                <a:solidFill>
                  <a:schemeClr val="hlink"/>
                </a:solidFill>
                <a:hlinkClick r:id="rId3"/>
              </a:rPr>
              <a:t>here</a:t>
            </a:r>
            <a:r>
              <a:rPr lang="en-GB"/>
              <a:t>.</a:t>
            </a:r>
            <a:endParaRPr/>
          </a:p>
          <a:p>
            <a:pPr indent="0" lvl="0" marL="0" rtl="0" algn="l">
              <a:spcBef>
                <a:spcPts val="1200"/>
              </a:spcBef>
              <a:spcAft>
                <a:spcPts val="0"/>
              </a:spcAft>
              <a:buNone/>
            </a:pPr>
            <a:r>
              <a:rPr lang="en-GB"/>
              <a:t>Data preprocessing was done in MySQL. Find code </a:t>
            </a:r>
            <a:r>
              <a:rPr lang="en-GB" u="sng">
                <a:solidFill>
                  <a:schemeClr val="hlink"/>
                </a:solidFill>
                <a:hlinkClick r:id="rId4"/>
              </a:rPr>
              <a:t>here</a:t>
            </a:r>
            <a:r>
              <a:rPr lang="en-GB"/>
              <a:t>.</a:t>
            </a:r>
            <a:endParaRPr/>
          </a:p>
          <a:p>
            <a:pPr indent="0" lvl="0" marL="0" rtl="0" algn="l">
              <a:spcBef>
                <a:spcPts val="1200"/>
              </a:spcBef>
              <a:spcAft>
                <a:spcPts val="1200"/>
              </a:spcAft>
              <a:buNone/>
            </a:pPr>
            <a:r>
              <a:rPr lang="en-GB"/>
              <a:t>Data </a:t>
            </a:r>
            <a:r>
              <a:rPr lang="en-GB"/>
              <a:t>Visualization</a:t>
            </a:r>
            <a:r>
              <a:rPr lang="en-GB"/>
              <a:t> was done on Power BI. Find file here.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8"/>
          <p:cNvSpPr/>
          <p:nvPr/>
        </p:nvSpPr>
        <p:spPr>
          <a:xfrm>
            <a:off x="522000" y="2148688"/>
            <a:ext cx="7804410" cy="846124"/>
          </a:xfrm>
          <a:prstGeom prst="rect">
            <a:avLst/>
          </a:prstGeom>
        </p:spPr>
        <p:txBody>
          <a:bodyPr>
            <a:prstTxWarp prst="textPlain"/>
          </a:bodyPr>
          <a:lstStyle/>
          <a:p>
            <a:pPr lvl="0" algn="ctr"/>
            <a:r>
              <a:rPr b="1" i="0">
                <a:ln cap="flat" cmpd="sng" w="9525">
                  <a:solidFill>
                    <a:srgbClr val="FF0000"/>
                  </a:solidFill>
                  <a:prstDash val="solid"/>
                  <a:round/>
                  <a:headEnd len="sm" w="sm" type="none"/>
                  <a:tailEnd len="sm" w="sm" type="none"/>
                </a:ln>
                <a:solidFill>
                  <a:srgbClr val="000000"/>
                </a:solidFill>
                <a:latin typeface="Times New Roman"/>
              </a:rPr>
              <a:t>Analysis &amp; Insights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50520" lvl="0" marL="457200" rtl="0" algn="l">
              <a:spcBef>
                <a:spcPts val="0"/>
              </a:spcBef>
              <a:spcAft>
                <a:spcPts val="0"/>
              </a:spcAft>
              <a:buSzPts val="1920"/>
              <a:buAutoNum type="arabicPeriod"/>
            </a:pPr>
            <a:r>
              <a:rPr b="1" lang="en-GB" sz="1920"/>
              <a:t>Do higher popularity rankings correspond to higher anime ratings?</a:t>
            </a:r>
            <a:endParaRPr b="1" sz="1920"/>
          </a:p>
        </p:txBody>
      </p:sp>
      <p:sp>
        <p:nvSpPr>
          <p:cNvPr id="90" name="Google Shape;90;p19"/>
          <p:cNvSpPr txBox="1"/>
          <p:nvPr>
            <p:ph idx="1" type="body"/>
          </p:nvPr>
        </p:nvSpPr>
        <p:spPr>
          <a:xfrm>
            <a:off x="5669425" y="1017725"/>
            <a:ext cx="3162900" cy="383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Higher-rated anime are slightly more likely to be popular, making the relationship weak. High rating doesn’t guarantee mainstream popularity.</a:t>
            </a:r>
            <a:endParaRPr/>
          </a:p>
        </p:txBody>
      </p:sp>
      <p:pic>
        <p:nvPicPr>
          <p:cNvPr id="91" name="Google Shape;91;p19" title="Screenshot 2025-09-22 122639.png"/>
          <p:cNvPicPr preferRelativeResize="0"/>
          <p:nvPr/>
        </p:nvPicPr>
        <p:blipFill rotWithShape="1">
          <a:blip r:embed="rId3">
            <a:alphaModFix/>
          </a:blip>
          <a:srcRect b="9140" l="0" r="0" t="0"/>
          <a:stretch/>
        </p:blipFill>
        <p:spPr>
          <a:xfrm>
            <a:off x="668225" y="1017725"/>
            <a:ext cx="4897876" cy="3626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GB" sz="2020"/>
              <a:t>2. How does fan favourability ranking relate to anime ratings?</a:t>
            </a:r>
            <a:endParaRPr b="1" sz="2020"/>
          </a:p>
        </p:txBody>
      </p:sp>
      <p:sp>
        <p:nvSpPr>
          <p:cNvPr id="97" name="Google Shape;97;p20"/>
          <p:cNvSpPr txBox="1"/>
          <p:nvPr>
            <p:ph idx="1" type="body"/>
          </p:nvPr>
        </p:nvSpPr>
        <p:spPr>
          <a:xfrm>
            <a:off x="5969200" y="1442825"/>
            <a:ext cx="2863200" cy="3126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Well-rated anime are generally liked more by fans, though the link is moderately strong</a:t>
            </a:r>
            <a:endParaRPr/>
          </a:p>
        </p:txBody>
      </p:sp>
      <p:pic>
        <p:nvPicPr>
          <p:cNvPr id="98" name="Google Shape;98;p20" title="Screenshot 2025-09-22 123340.png"/>
          <p:cNvPicPr preferRelativeResize="0"/>
          <p:nvPr/>
        </p:nvPicPr>
        <p:blipFill rotWithShape="1">
          <a:blip r:embed="rId3">
            <a:alphaModFix/>
          </a:blip>
          <a:srcRect b="-9361" l="0" r="0" t="0"/>
          <a:stretch/>
        </p:blipFill>
        <p:spPr>
          <a:xfrm>
            <a:off x="578375" y="1322513"/>
            <a:ext cx="5027599" cy="3820975"/>
          </a:xfrm>
          <a:prstGeom prst="rect">
            <a:avLst/>
          </a:prstGeom>
          <a:noFill/>
          <a:ln>
            <a:noFill/>
          </a:ln>
        </p:spPr>
      </p:pic>
      <p:pic>
        <p:nvPicPr>
          <p:cNvPr id="99" name="Google Shape;99;p20" title="Screenshot 2025-09-22 122639.png"/>
          <p:cNvPicPr preferRelativeResize="0"/>
          <p:nvPr/>
        </p:nvPicPr>
        <p:blipFill rotWithShape="1">
          <a:blip r:embed="rId4">
            <a:alphaModFix/>
          </a:blip>
          <a:srcRect b="93967" l="0" r="0" t="0"/>
          <a:stretch/>
        </p:blipFill>
        <p:spPr>
          <a:xfrm>
            <a:off x="578375" y="1017725"/>
            <a:ext cx="5027600" cy="310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020"/>
              <a:t>3. Do popularity and favourability rankings correlate with each other?</a:t>
            </a:r>
            <a:endParaRPr b="1" sz="2020"/>
          </a:p>
        </p:txBody>
      </p:sp>
      <p:sp>
        <p:nvSpPr>
          <p:cNvPr id="105" name="Google Shape;105;p21"/>
          <p:cNvSpPr txBox="1"/>
          <p:nvPr>
            <p:ph idx="1" type="body"/>
          </p:nvPr>
        </p:nvSpPr>
        <p:spPr>
          <a:xfrm>
            <a:off x="6000750" y="1138075"/>
            <a:ext cx="2831400" cy="343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Popular anime tend to also be favourably ranked, showing a strong positive relationship</a:t>
            </a:r>
            <a:endParaRPr/>
          </a:p>
        </p:txBody>
      </p:sp>
      <p:pic>
        <p:nvPicPr>
          <p:cNvPr id="106" name="Google Shape;106;p21" title="Screenshot 2025-09-22 124557.png"/>
          <p:cNvPicPr preferRelativeResize="0"/>
          <p:nvPr/>
        </p:nvPicPr>
        <p:blipFill rotWithShape="1">
          <a:blip r:embed="rId3">
            <a:alphaModFix/>
          </a:blip>
          <a:srcRect b="10217" l="1477" r="0" t="0"/>
          <a:stretch/>
        </p:blipFill>
        <p:spPr>
          <a:xfrm>
            <a:off x="578375" y="1392000"/>
            <a:ext cx="5027600" cy="3430725"/>
          </a:xfrm>
          <a:prstGeom prst="rect">
            <a:avLst/>
          </a:prstGeom>
          <a:noFill/>
          <a:ln>
            <a:noFill/>
          </a:ln>
        </p:spPr>
      </p:pic>
      <p:pic>
        <p:nvPicPr>
          <p:cNvPr id="107" name="Google Shape;107;p21" title="Screenshot 2025-09-22 122639.png"/>
          <p:cNvPicPr preferRelativeResize="0"/>
          <p:nvPr/>
        </p:nvPicPr>
        <p:blipFill rotWithShape="1">
          <a:blip r:embed="rId4">
            <a:alphaModFix/>
          </a:blip>
          <a:srcRect b="93967" l="0" r="0" t="0"/>
          <a:stretch/>
        </p:blipFill>
        <p:spPr>
          <a:xfrm>
            <a:off x="578375" y="1097490"/>
            <a:ext cx="5027600" cy="310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211300"/>
            <a:ext cx="8520600" cy="80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020"/>
              <a:t>4</a:t>
            </a:r>
            <a:r>
              <a:rPr b="1" lang="en-GB" sz="2020"/>
              <a:t>. How do individual anime overall ranks compare against popularity and favourability ranks?</a:t>
            </a:r>
            <a:endParaRPr b="1" sz="2020"/>
          </a:p>
        </p:txBody>
      </p:sp>
      <p:pic>
        <p:nvPicPr>
          <p:cNvPr id="113" name="Google Shape;113;p22" title="Screenshot 2025-09-22 151146.png"/>
          <p:cNvPicPr preferRelativeResize="0"/>
          <p:nvPr/>
        </p:nvPicPr>
        <p:blipFill>
          <a:blip r:embed="rId3">
            <a:alphaModFix/>
          </a:blip>
          <a:stretch>
            <a:fillRect/>
          </a:stretch>
        </p:blipFill>
        <p:spPr>
          <a:xfrm>
            <a:off x="386375" y="1017700"/>
            <a:ext cx="8445924" cy="3576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Only a select few of anime appear in all three categories, with Fullmetal Alchemist: Brotherhood(FMAB) being in top 3 for all three categories. </a:t>
            </a:r>
            <a:endParaRPr/>
          </a:p>
          <a:p>
            <a:pPr indent="-342900" lvl="0" marL="457200" rtl="0" algn="l">
              <a:spcBef>
                <a:spcPts val="0"/>
              </a:spcBef>
              <a:spcAft>
                <a:spcPts val="0"/>
              </a:spcAft>
              <a:buSzPts val="1800"/>
              <a:buChar char="●"/>
            </a:pPr>
            <a:r>
              <a:rPr lang="en-GB"/>
              <a:t>A notable mention would be Sousou no Frieren that ranks number 1 overall but is number 21 most favourite and not in top 100 most popular anime. </a:t>
            </a:r>
            <a:endParaRPr/>
          </a:p>
          <a:p>
            <a:pPr indent="-342900" lvl="0" marL="457200" rtl="0" algn="l">
              <a:spcBef>
                <a:spcPts val="0"/>
              </a:spcBef>
              <a:spcAft>
                <a:spcPts val="0"/>
              </a:spcAft>
              <a:buSzPts val="1800"/>
              <a:buChar char="●"/>
            </a:pPr>
            <a:r>
              <a:rPr lang="en-GB"/>
              <a:t>This begs the question: What factors contribute to an anime achieving the #1 overall rank even if it is not highly popular or favourable compared to others?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GB" sz="2020"/>
              <a:t>5. Do higher ratings lead to better overall ranks?</a:t>
            </a:r>
            <a:endParaRPr b="1" sz="2020"/>
          </a:p>
        </p:txBody>
      </p:sp>
      <p:sp>
        <p:nvSpPr>
          <p:cNvPr id="125" name="Google Shape;125;p24"/>
          <p:cNvSpPr txBox="1"/>
          <p:nvPr>
            <p:ph idx="1" type="body"/>
          </p:nvPr>
        </p:nvSpPr>
        <p:spPr>
          <a:xfrm>
            <a:off x="5366875" y="1198825"/>
            <a:ext cx="3465600" cy="3369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Higher-rated anime consistently achieve better overall ranking, which is the case for Sousou no Frieren, with a stunning rating of 9.3.</a:t>
            </a:r>
            <a:endParaRPr/>
          </a:p>
          <a:p>
            <a:pPr indent="-342900" lvl="0" marL="457200" rtl="0" algn="l">
              <a:spcBef>
                <a:spcPts val="0"/>
              </a:spcBef>
              <a:spcAft>
                <a:spcPts val="0"/>
              </a:spcAft>
              <a:buSzPts val="1800"/>
              <a:buChar char="●"/>
            </a:pPr>
            <a:r>
              <a:rPr lang="en-GB"/>
              <a:t>It is followed by FMAB with a 9.1, which we saw earlier appeared in top 3 in both most popular and most favourite. </a:t>
            </a:r>
            <a:endParaRPr/>
          </a:p>
        </p:txBody>
      </p:sp>
      <p:pic>
        <p:nvPicPr>
          <p:cNvPr id="126" name="Google Shape;126;p24" title="Screenshot 2025-09-22 153107.png"/>
          <p:cNvPicPr preferRelativeResize="0"/>
          <p:nvPr/>
        </p:nvPicPr>
        <p:blipFill rotWithShape="1">
          <a:blip r:embed="rId3">
            <a:alphaModFix/>
          </a:blip>
          <a:srcRect b="9518" l="0" r="2742" t="2103"/>
          <a:stretch/>
        </p:blipFill>
        <p:spPr>
          <a:xfrm>
            <a:off x="424075" y="1198825"/>
            <a:ext cx="4942800" cy="3449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247525"/>
            <a:ext cx="8520600" cy="7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120"/>
              <a:t>6. </a:t>
            </a:r>
            <a:r>
              <a:rPr b="1" lang="en-GB" sz="2120"/>
              <a:t>Do highly rated anime by default mean most popular/most favourite anime?</a:t>
            </a:r>
            <a:endParaRPr b="1" sz="2120"/>
          </a:p>
        </p:txBody>
      </p:sp>
      <p:sp>
        <p:nvSpPr>
          <p:cNvPr id="132" name="Google Shape;132;p25"/>
          <p:cNvSpPr txBox="1"/>
          <p:nvPr>
            <p:ph idx="1" type="body"/>
          </p:nvPr>
        </p:nvSpPr>
        <p:spPr>
          <a:xfrm>
            <a:off x="5674750" y="1017625"/>
            <a:ext cx="3157500" cy="39387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GB"/>
              <a:t>The table displays  top 10 highest rated anime according to MAL, which also means top 10 overall anime.</a:t>
            </a:r>
            <a:endParaRPr/>
          </a:p>
          <a:p>
            <a:pPr indent="-334327" lvl="0" marL="457200" rtl="0" algn="l">
              <a:spcBef>
                <a:spcPts val="0"/>
              </a:spcBef>
              <a:spcAft>
                <a:spcPts val="0"/>
              </a:spcAft>
              <a:buSzPct val="100000"/>
              <a:buChar char="●"/>
            </a:pPr>
            <a:r>
              <a:rPr lang="en-GB"/>
              <a:t>Majority of them do not appear in top 100 most favourite anime or most popular anime despite high ratings.</a:t>
            </a:r>
            <a:endParaRPr/>
          </a:p>
          <a:p>
            <a:pPr indent="-334327" lvl="0" marL="457200" rtl="0" algn="l">
              <a:spcBef>
                <a:spcPts val="0"/>
              </a:spcBef>
              <a:spcAft>
                <a:spcPts val="0"/>
              </a:spcAft>
              <a:buSzPct val="100000"/>
              <a:buChar char="●"/>
            </a:pPr>
            <a:r>
              <a:rPr lang="en-GB"/>
              <a:t>This means that a higher rating/overall ranking does not always mean most popular/most loved.</a:t>
            </a:r>
            <a:endParaRPr/>
          </a:p>
        </p:txBody>
      </p:sp>
      <p:pic>
        <p:nvPicPr>
          <p:cNvPr id="133" name="Google Shape;133;p25"/>
          <p:cNvPicPr preferRelativeResize="0"/>
          <p:nvPr/>
        </p:nvPicPr>
        <p:blipFill>
          <a:blip r:embed="rId3">
            <a:alphaModFix/>
          </a:blip>
          <a:stretch>
            <a:fillRect/>
          </a:stretch>
        </p:blipFill>
        <p:spPr>
          <a:xfrm>
            <a:off x="311700" y="1017725"/>
            <a:ext cx="5363051" cy="3938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120"/>
              <a:t>How much overlap is there between the Top 10 Most Popular and the Top 10 Most Favourite lists</a:t>
            </a:r>
            <a:endParaRPr b="1" sz="2120"/>
          </a:p>
        </p:txBody>
      </p:sp>
      <p:pic>
        <p:nvPicPr>
          <p:cNvPr id="139" name="Google Shape;139;p26"/>
          <p:cNvPicPr preferRelativeResize="0"/>
          <p:nvPr/>
        </p:nvPicPr>
        <p:blipFill rotWithShape="1">
          <a:blip r:embed="rId3">
            <a:alphaModFix/>
          </a:blip>
          <a:srcRect b="0" l="0" r="0" t="2856"/>
          <a:stretch/>
        </p:blipFill>
        <p:spPr>
          <a:xfrm>
            <a:off x="422600" y="1370400"/>
            <a:ext cx="8276674" cy="3115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a:t>
            </a:r>
            <a:endParaRPr/>
          </a:p>
        </p:txBody>
      </p:sp>
      <p:sp>
        <p:nvSpPr>
          <p:cNvPr id="145" name="Google Shape;14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Chart 1(left) compares top 10 most popular anime with their favourability ranking while chart 2 does the vice versa.</a:t>
            </a:r>
            <a:endParaRPr/>
          </a:p>
          <a:p>
            <a:pPr indent="-342900" lvl="0" marL="457200" rtl="0" algn="l">
              <a:spcBef>
                <a:spcPts val="0"/>
              </a:spcBef>
              <a:spcAft>
                <a:spcPts val="0"/>
              </a:spcAft>
              <a:buSzPts val="1800"/>
              <a:buChar char="●"/>
            </a:pPr>
            <a:r>
              <a:rPr lang="en-GB"/>
              <a:t>In chart 1 it appears that most popular does not always mean most favourite, with anime like One Punch Man, Sword Art Online, Boku no Hero Academia and Tokyo Ghoul dragging the favourability ranking by far.</a:t>
            </a:r>
            <a:endParaRPr/>
          </a:p>
          <a:p>
            <a:pPr indent="-342900" lvl="0" marL="457200" rtl="0" algn="l">
              <a:spcBef>
                <a:spcPts val="0"/>
              </a:spcBef>
              <a:spcAft>
                <a:spcPts val="0"/>
              </a:spcAft>
              <a:buSzPts val="1800"/>
              <a:buChar char="●"/>
            </a:pPr>
            <a:r>
              <a:rPr lang="en-GB"/>
              <a:t>Chart 2 on the other hand is slightly different. The most favourite anime moderately correspond with their popular ranks,  with one </a:t>
            </a:r>
            <a:r>
              <a:rPr lang="en-GB"/>
              <a:t>exception</a:t>
            </a:r>
            <a:r>
              <a:rPr lang="en-GB"/>
              <a:t> that is Shinseiki Evangelion.</a:t>
            </a:r>
            <a:endParaRPr/>
          </a:p>
          <a:p>
            <a:pPr indent="-342900" lvl="0" marL="457200" rtl="0" algn="l">
              <a:spcBef>
                <a:spcPts val="0"/>
              </a:spcBef>
              <a:spcAft>
                <a:spcPts val="0"/>
              </a:spcAft>
              <a:buSzPts val="1800"/>
              <a:buChar char="●"/>
            </a:pPr>
            <a:r>
              <a:rPr lang="en-GB"/>
              <a:t> Although there shows to be a big gap in the #1 most favourite anime, One Piece that turns up in #17 most popular. This means that in some cases Fans’ favourite may not be as popular as one may think.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Recommendation</a:t>
            </a:r>
            <a:endParaRPr b="1"/>
          </a:p>
        </p:txBody>
      </p:sp>
      <p:sp>
        <p:nvSpPr>
          <p:cNvPr id="151" name="Google Shape;15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en-GB" u="sng"/>
              <a:t>For Anime Platforms</a:t>
            </a:r>
            <a:endParaRPr b="1" u="sng"/>
          </a:p>
          <a:p>
            <a:pPr indent="-342900" lvl="0" marL="457200" rtl="0" algn="l">
              <a:spcBef>
                <a:spcPts val="1200"/>
              </a:spcBef>
              <a:spcAft>
                <a:spcPts val="0"/>
              </a:spcAft>
              <a:buSzPts val="1800"/>
              <a:buChar char="●"/>
            </a:pPr>
            <a:r>
              <a:rPr lang="en-GB"/>
              <a:t>Based on the analysis, streaming platforms should not rely solely on popularity rankings when recommending anime to viewers. Titles such as Sousou no Frieren, which rank highly in ratings and favourability but fall short in popularity, demonstrate the value of promoting lesser-known but high-quality anime.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Recommendation Cont’</a:t>
            </a:r>
            <a:endParaRPr b="1"/>
          </a:p>
        </p:txBody>
      </p:sp>
      <p:sp>
        <p:nvSpPr>
          <p:cNvPr id="157" name="Google Shape;15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u="sng"/>
              <a:t>For Anime Viewers</a:t>
            </a:r>
            <a:endParaRPr b="1" u="sng"/>
          </a:p>
          <a:p>
            <a:pPr indent="-342900" lvl="0" marL="457200" rtl="0" algn="l">
              <a:spcBef>
                <a:spcPts val="1200"/>
              </a:spcBef>
              <a:spcAft>
                <a:spcPts val="0"/>
              </a:spcAft>
              <a:buSzPts val="1800"/>
              <a:buChar char="●"/>
            </a:pPr>
            <a:r>
              <a:rPr lang="en-GB"/>
              <a:t>High-rated and highly favoured anime may not always appear in the “Top 100 Popular,” so checking favourability rankings can uncover hidden gems.</a:t>
            </a:r>
            <a:endParaRPr/>
          </a:p>
          <a:p>
            <a:pPr indent="-342900" lvl="0" marL="457200" rtl="0" algn="l">
              <a:spcBef>
                <a:spcPts val="0"/>
              </a:spcBef>
              <a:spcAft>
                <a:spcPts val="0"/>
              </a:spcAft>
              <a:buSzPts val="1800"/>
              <a:buChar char="●"/>
            </a:pPr>
            <a:r>
              <a:rPr lang="en-GB"/>
              <a:t>Viewers seeking critically acclaimed shows can rely on high ratings and overall rank, while those looking for community favourites should also check favourability metrics.</a:t>
            </a:r>
            <a:endParaRPr/>
          </a:p>
          <a:p>
            <a:pPr indent="0" lvl="0" marL="0" rtl="0" algn="l">
              <a:spcBef>
                <a:spcPts val="1200"/>
              </a:spcBef>
              <a:spcAft>
                <a:spcPts val="1200"/>
              </a:spcAft>
              <a:buNone/>
            </a:pPr>
            <a:r>
              <a:rPr lang="en-GB"/>
              <a:t>PS: Since Fullmetal Alchemist: Brotherhood appears in top three in all three categories(overall, most popular, most favourite) and also has a very high rating based on the analysis, this researcher recommends watching this show as it ticks the boxes.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Recommendation </a:t>
            </a:r>
            <a:r>
              <a:rPr b="1" lang="en-GB"/>
              <a:t>Cont’</a:t>
            </a:r>
            <a:endParaRPr b="1"/>
          </a:p>
        </p:txBody>
      </p:sp>
      <p:sp>
        <p:nvSpPr>
          <p:cNvPr id="163" name="Google Shape;16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u="sng"/>
              <a:t>For Data Perspective (future work)</a:t>
            </a:r>
            <a:endParaRPr/>
          </a:p>
          <a:p>
            <a:pPr indent="-342900" lvl="0" marL="457200" rtl="0" algn="l">
              <a:spcBef>
                <a:spcPts val="1200"/>
              </a:spcBef>
              <a:spcAft>
                <a:spcPts val="0"/>
              </a:spcAft>
              <a:buSzPts val="1800"/>
              <a:buChar char="●"/>
            </a:pPr>
            <a:r>
              <a:rPr lang="en-GB"/>
              <a:t>Expand dataset with runtime, genres, and release years → Adding these dimensions could reveal why some anime succeed in favourability but not popularity.</a:t>
            </a:r>
            <a:endParaRPr/>
          </a:p>
          <a:p>
            <a:pPr indent="-342900" lvl="0" marL="457200" rtl="0" algn="l">
              <a:spcBef>
                <a:spcPts val="0"/>
              </a:spcBef>
              <a:spcAft>
                <a:spcPts val="0"/>
              </a:spcAft>
              <a:buSzPts val="1800"/>
              <a:buChar char="●"/>
            </a:pPr>
            <a:r>
              <a:rPr lang="en-GB"/>
              <a:t>Trend analysis over time → Checking if correlations change by year/season would give more dynamic insights.</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